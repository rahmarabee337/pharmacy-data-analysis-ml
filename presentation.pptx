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0000800000000000000" charset="0"/>
      <p:regular r:id="rId13"/>
    </p:embeddedFont>
    <p:embeddedFont>
      <p:font typeface="Tex Gyre Termes" panose="020B0604020202020204" charset="0"/>
      <p:regular r:id="rId14"/>
    </p:embeddedFont>
    <p:embeddedFont>
      <p:font typeface="Tex Gyre Term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519365"/>
            <a:ext cx="6782896" cy="983696"/>
            <a:chOff x="0" y="0"/>
            <a:chExt cx="1786442" cy="2590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442" cy="259081"/>
            </a:xfrm>
            <a:custGeom>
              <a:avLst/>
              <a:gdLst/>
              <a:ahLst/>
              <a:cxnLst/>
              <a:rect l="l" t="t" r="r" b="b"/>
              <a:pathLst>
                <a:path w="1786442" h="259081">
                  <a:moveTo>
                    <a:pt x="58211" y="0"/>
                  </a:moveTo>
                  <a:lnTo>
                    <a:pt x="1728231" y="0"/>
                  </a:lnTo>
                  <a:cubicBezTo>
                    <a:pt x="1760380" y="0"/>
                    <a:pt x="1786442" y="26062"/>
                    <a:pt x="1786442" y="58211"/>
                  </a:cubicBezTo>
                  <a:lnTo>
                    <a:pt x="1786442" y="200870"/>
                  </a:lnTo>
                  <a:cubicBezTo>
                    <a:pt x="1786442" y="233019"/>
                    <a:pt x="1760380" y="259081"/>
                    <a:pt x="1728231" y="259081"/>
                  </a:cubicBezTo>
                  <a:lnTo>
                    <a:pt x="58211" y="259081"/>
                  </a:lnTo>
                  <a:cubicBezTo>
                    <a:pt x="26062" y="259081"/>
                    <a:pt x="0" y="233019"/>
                    <a:pt x="0" y="200870"/>
                  </a:cubicBezTo>
                  <a:lnTo>
                    <a:pt x="0" y="58211"/>
                  </a:lnTo>
                  <a:cubicBezTo>
                    <a:pt x="0" y="26062"/>
                    <a:pt x="26062" y="0"/>
                    <a:pt x="58211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86442" cy="31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3054012"/>
            <a:ext cx="8115300" cy="210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1"/>
              </a:lnSpc>
              <a:spcBef>
                <a:spcPct val="0"/>
              </a:spcBef>
            </a:pPr>
            <a:r>
              <a:rPr lang="en-US" sz="6001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Pharmacy Data Analysis &amp; ML Models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9828" y="5615332"/>
            <a:ext cx="6620639" cy="677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 Project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28037" y="8816975"/>
            <a:ext cx="463126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 : Rahma Rabee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8055636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86267" y="2603390"/>
            <a:ext cx="5300548" cy="5319893"/>
          </a:xfrm>
          <a:custGeom>
            <a:avLst/>
            <a:gdLst/>
            <a:ahLst/>
            <a:cxnLst/>
            <a:rect l="l" t="t" r="r" b="b"/>
            <a:pathLst>
              <a:path w="5300548" h="5319893">
                <a:moveTo>
                  <a:pt x="0" y="0"/>
                </a:moveTo>
                <a:lnTo>
                  <a:pt x="5300548" y="0"/>
                </a:lnTo>
                <a:lnTo>
                  <a:pt x="5300548" y="5319893"/>
                </a:lnTo>
                <a:lnTo>
                  <a:pt x="0" y="53198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57067"/>
            <a:ext cx="941636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Prob</a:t>
            </a:r>
            <a:r>
              <a:rPr lang="en-US" sz="6999" b="1" u="none" strike="noStrike" dirty="0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lem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422775"/>
            <a:ext cx="8366795" cy="248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clear sales insights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Unknown key drivers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prediction system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Decisions not data-driven</a:t>
            </a:r>
          </a:p>
        </p:txBody>
      </p:sp>
      <p:sp>
        <p:nvSpPr>
          <p:cNvPr id="4" name="Freeform 4"/>
          <p:cNvSpPr/>
          <p:nvPr/>
        </p:nvSpPr>
        <p:spPr>
          <a:xfrm>
            <a:off x="10999877" y="2234956"/>
            <a:ext cx="5097884" cy="5817087"/>
          </a:xfrm>
          <a:custGeom>
            <a:avLst/>
            <a:gdLst/>
            <a:ahLst/>
            <a:cxnLst/>
            <a:rect l="l" t="t" r="r" b="b"/>
            <a:pathLst>
              <a:path w="5097884" h="5817087">
                <a:moveTo>
                  <a:pt x="0" y="0"/>
                </a:moveTo>
                <a:lnTo>
                  <a:pt x="5097884" y="0"/>
                </a:lnTo>
                <a:lnTo>
                  <a:pt x="5097884" y="5817088"/>
                </a:lnTo>
                <a:lnTo>
                  <a:pt x="0" y="5817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052044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833675"/>
            <a:ext cx="5729468" cy="4114800"/>
          </a:xfrm>
          <a:custGeom>
            <a:avLst/>
            <a:gdLst/>
            <a:ahLst/>
            <a:cxnLst/>
            <a:rect l="l" t="t" r="r" b="b"/>
            <a:pathLst>
              <a:path w="5729468" h="4114800">
                <a:moveTo>
                  <a:pt x="0" y="0"/>
                </a:moveTo>
                <a:lnTo>
                  <a:pt x="5729468" y="0"/>
                </a:lnTo>
                <a:lnTo>
                  <a:pt x="57294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6361" y="8074583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91064" y="2839348"/>
            <a:ext cx="7618638" cy="919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59"/>
              </a:lnSpc>
            </a:pPr>
            <a:r>
              <a:rPr lang="en-US" sz="6999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Data Preparation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91064" y="4164012"/>
            <a:ext cx="10114488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Handled missing values (Median / Mode)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Removed duplicates (Invoices logic)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Validated age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57067"/>
            <a:ext cx="941636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Ou</a:t>
            </a:r>
            <a:r>
              <a:rPr lang="en-US" sz="6999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tlier Handling :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422775"/>
            <a:ext cx="8366795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Winsorization (99th percentile)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Preserved extreme values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Avoided data loss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8052044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574243" y="2243477"/>
            <a:ext cx="4597855" cy="5800047"/>
          </a:xfrm>
          <a:custGeom>
            <a:avLst/>
            <a:gdLst/>
            <a:ahLst/>
            <a:cxnLst/>
            <a:rect l="l" t="t" r="r" b="b"/>
            <a:pathLst>
              <a:path w="4597855" h="5800047">
                <a:moveTo>
                  <a:pt x="0" y="0"/>
                </a:moveTo>
                <a:lnTo>
                  <a:pt x="4597856" y="0"/>
                </a:lnTo>
                <a:lnTo>
                  <a:pt x="4597856" y="5800046"/>
                </a:lnTo>
                <a:lnTo>
                  <a:pt x="0" y="5800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35845" y="5143500"/>
            <a:ext cx="4598047" cy="1159467"/>
            <a:chOff x="0" y="0"/>
            <a:chExt cx="1211008" cy="3053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982671" y="1487209"/>
            <a:ext cx="832265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Feature</a:t>
            </a:r>
            <a:r>
              <a:rPr lang="en-US" sz="6999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89993" y="5469233"/>
            <a:ext cx="3289750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Quantity &amp; Discount</a:t>
            </a:r>
          </a:p>
        </p:txBody>
      </p:sp>
      <p:sp>
        <p:nvSpPr>
          <p:cNvPr id="7" name="Freeform 7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842896" y="5143500"/>
            <a:ext cx="4598047" cy="1159467"/>
            <a:chOff x="0" y="0"/>
            <a:chExt cx="1211008" cy="3053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023487" y="5469233"/>
            <a:ext cx="424102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Total Feature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345817" y="5143500"/>
            <a:ext cx="4598047" cy="1159467"/>
            <a:chOff x="0" y="0"/>
            <a:chExt cx="1211008" cy="30537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1008" cy="305374"/>
            </a:xfrm>
            <a:custGeom>
              <a:avLst/>
              <a:gdLst/>
              <a:ahLst/>
              <a:cxnLst/>
              <a:rect l="l" t="t" r="r" b="b"/>
              <a:pathLst>
                <a:path w="1211008" h="305374">
                  <a:moveTo>
                    <a:pt x="52196" y="0"/>
                  </a:moveTo>
                  <a:lnTo>
                    <a:pt x="1158812" y="0"/>
                  </a:lnTo>
                  <a:cubicBezTo>
                    <a:pt x="1187639" y="0"/>
                    <a:pt x="1211008" y="23369"/>
                    <a:pt x="1211008" y="52196"/>
                  </a:cubicBezTo>
                  <a:lnTo>
                    <a:pt x="1211008" y="253178"/>
                  </a:lnTo>
                  <a:cubicBezTo>
                    <a:pt x="1211008" y="282005"/>
                    <a:pt x="1187639" y="305374"/>
                    <a:pt x="1158812" y="305374"/>
                  </a:cubicBezTo>
                  <a:lnTo>
                    <a:pt x="52196" y="305374"/>
                  </a:lnTo>
                  <a:cubicBezTo>
                    <a:pt x="38353" y="305374"/>
                    <a:pt x="25076" y="299875"/>
                    <a:pt x="15288" y="290086"/>
                  </a:cubicBezTo>
                  <a:cubicBezTo>
                    <a:pt x="5499" y="280297"/>
                    <a:pt x="0" y="267021"/>
                    <a:pt x="0" y="253178"/>
                  </a:cubicBezTo>
                  <a:lnTo>
                    <a:pt x="0" y="52196"/>
                  </a:lnTo>
                  <a:cubicBezTo>
                    <a:pt x="0" y="23369"/>
                    <a:pt x="23369" y="0"/>
                    <a:pt x="52196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11008" cy="372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516712" y="5469233"/>
            <a:ext cx="425625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linear relationship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30684" y="2836340"/>
            <a:ext cx="2622471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drivers :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8074583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052044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96010" y="2759873"/>
            <a:ext cx="9895979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Classif</a:t>
            </a:r>
            <a:r>
              <a:rPr lang="en-US" sz="6999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ication Models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14760" y="4826780"/>
            <a:ext cx="4882600" cy="879493"/>
            <a:chOff x="0" y="0"/>
            <a:chExt cx="1285952" cy="2316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4119FF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29223" y="5012527"/>
            <a:ext cx="4053676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Logistic Regression: 79.5%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790639" y="4826780"/>
            <a:ext cx="4882600" cy="879493"/>
            <a:chOff x="0" y="0"/>
            <a:chExt cx="1285952" cy="23163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4119FF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442582" y="5012527"/>
            <a:ext cx="357871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Decision Tree: 78.5%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614760" y="6514283"/>
            <a:ext cx="4882600" cy="879493"/>
            <a:chOff x="0" y="0"/>
            <a:chExt cx="1285952" cy="2316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4119FF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266703" y="6700030"/>
            <a:ext cx="3578715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SVM: 79.5%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790639" y="6449223"/>
            <a:ext cx="4882600" cy="879493"/>
            <a:chOff x="0" y="0"/>
            <a:chExt cx="1285952" cy="2316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5952" cy="231636"/>
            </a:xfrm>
            <a:custGeom>
              <a:avLst/>
              <a:gdLst/>
              <a:ahLst/>
              <a:cxnLst/>
              <a:rect l="l" t="t" r="r" b="b"/>
              <a:pathLst>
                <a:path w="1285952" h="231636">
                  <a:moveTo>
                    <a:pt x="80866" y="0"/>
                  </a:moveTo>
                  <a:lnTo>
                    <a:pt x="1205086" y="0"/>
                  </a:lnTo>
                  <a:cubicBezTo>
                    <a:pt x="1226533" y="0"/>
                    <a:pt x="1247102" y="8520"/>
                    <a:pt x="1262267" y="23685"/>
                  </a:cubicBezTo>
                  <a:cubicBezTo>
                    <a:pt x="1277433" y="38851"/>
                    <a:pt x="1285952" y="59419"/>
                    <a:pt x="1285952" y="80866"/>
                  </a:cubicBezTo>
                  <a:lnTo>
                    <a:pt x="1285952" y="150770"/>
                  </a:lnTo>
                  <a:cubicBezTo>
                    <a:pt x="1285952" y="195431"/>
                    <a:pt x="1249747" y="231636"/>
                    <a:pt x="1205086" y="231636"/>
                  </a:cubicBezTo>
                  <a:lnTo>
                    <a:pt x="80866" y="231636"/>
                  </a:lnTo>
                  <a:cubicBezTo>
                    <a:pt x="36205" y="231636"/>
                    <a:pt x="0" y="195431"/>
                    <a:pt x="0" y="150770"/>
                  </a:cubicBezTo>
                  <a:lnTo>
                    <a:pt x="0" y="80866"/>
                  </a:lnTo>
                  <a:cubicBezTo>
                    <a:pt x="0" y="36205"/>
                    <a:pt x="36205" y="0"/>
                    <a:pt x="80866" y="0"/>
                  </a:cubicBezTo>
                  <a:close/>
                </a:path>
              </a:pathLst>
            </a:custGeom>
            <a:solidFill>
              <a:srgbClr val="4119FF"/>
            </a:solidFill>
            <a:ln cap="rnd">
              <a:noFill/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285952" cy="298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966267" y="6634970"/>
            <a:ext cx="470697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Forest: 80.4% (Best)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757067"/>
            <a:ext cx="1185078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Model</a:t>
            </a:r>
            <a:r>
              <a:rPr lang="en-US" sz="6999" b="1" u="none" strike="noStrike">
                <a:solidFill>
                  <a:srgbClr val="FFFFFF"/>
                </a:solidFill>
                <a:latin typeface="Tex Gyre Termes Bold"/>
                <a:ea typeface="Tex Gyre Termes Bold"/>
                <a:cs typeface="Tex Gyre Termes Bold"/>
                <a:sym typeface="Tex Gyre Termes Bold"/>
              </a:rPr>
              <a:t>s Comparison (Insight)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422775"/>
            <a:ext cx="8366795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Small performance gap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is stable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 more reliable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8052044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61445" y="2251997"/>
            <a:ext cx="4597855" cy="5800047"/>
          </a:xfrm>
          <a:custGeom>
            <a:avLst/>
            <a:gdLst/>
            <a:ahLst/>
            <a:cxnLst/>
            <a:rect l="l" t="t" r="r" b="b"/>
            <a:pathLst>
              <a:path w="4597855" h="5800047">
                <a:moveTo>
                  <a:pt x="0" y="0"/>
                </a:moveTo>
                <a:lnTo>
                  <a:pt x="4597855" y="0"/>
                </a:lnTo>
                <a:lnTo>
                  <a:pt x="4597855" y="5800047"/>
                </a:lnTo>
                <a:lnTo>
                  <a:pt x="0" y="5800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519365"/>
            <a:ext cx="6782896" cy="983696"/>
            <a:chOff x="0" y="0"/>
            <a:chExt cx="1786442" cy="2590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442" cy="259081"/>
            </a:xfrm>
            <a:custGeom>
              <a:avLst/>
              <a:gdLst/>
              <a:ahLst/>
              <a:cxnLst/>
              <a:rect l="l" t="t" r="r" b="b"/>
              <a:pathLst>
                <a:path w="1786442" h="259081">
                  <a:moveTo>
                    <a:pt x="58211" y="0"/>
                  </a:moveTo>
                  <a:lnTo>
                    <a:pt x="1728231" y="0"/>
                  </a:lnTo>
                  <a:cubicBezTo>
                    <a:pt x="1760380" y="0"/>
                    <a:pt x="1786442" y="26062"/>
                    <a:pt x="1786442" y="58211"/>
                  </a:cubicBezTo>
                  <a:lnTo>
                    <a:pt x="1786442" y="200870"/>
                  </a:lnTo>
                  <a:cubicBezTo>
                    <a:pt x="1786442" y="233019"/>
                    <a:pt x="1760380" y="259081"/>
                    <a:pt x="1728231" y="259081"/>
                  </a:cubicBezTo>
                  <a:lnTo>
                    <a:pt x="58211" y="259081"/>
                  </a:lnTo>
                  <a:cubicBezTo>
                    <a:pt x="26062" y="259081"/>
                    <a:pt x="0" y="233019"/>
                    <a:pt x="0" y="200870"/>
                  </a:cubicBezTo>
                  <a:lnTo>
                    <a:pt x="0" y="58211"/>
                  </a:lnTo>
                  <a:cubicBezTo>
                    <a:pt x="0" y="26062"/>
                    <a:pt x="26062" y="0"/>
                    <a:pt x="58211" y="0"/>
                  </a:cubicBezTo>
                  <a:close/>
                </a:path>
              </a:pathLst>
            </a:custGeom>
            <a:solidFill>
              <a:srgbClr val="4119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786442" cy="3162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096361" y="1028700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8055636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8"/>
                </a:lnTo>
                <a:lnTo>
                  <a:pt x="0" y="1183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90957" y="5615332"/>
            <a:ext cx="6458382" cy="677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sz="3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your attention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196412"/>
            <a:ext cx="8282942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00"/>
              </a:lnSpc>
              <a:spcBef>
                <a:spcPct val="0"/>
              </a:spcBef>
            </a:pPr>
            <a:r>
              <a:rPr lang="en-US" sz="12000" u="none" strike="noStrike">
                <a:solidFill>
                  <a:srgbClr val="FFFFFF"/>
                </a:solidFill>
                <a:latin typeface="Tex Gyre Termes"/>
                <a:ea typeface="Tex Gyre Termes"/>
                <a:cs typeface="Tex Gyre Termes"/>
                <a:sym typeface="Tex Gyre Termes"/>
              </a:rPr>
              <a:t>Thank you</a:t>
            </a:r>
          </a:p>
        </p:txBody>
      </p:sp>
      <p:sp>
        <p:nvSpPr>
          <p:cNvPr id="9" name="Freeform 9"/>
          <p:cNvSpPr/>
          <p:nvPr/>
        </p:nvSpPr>
        <p:spPr>
          <a:xfrm>
            <a:off x="10400265" y="1919962"/>
            <a:ext cx="5204037" cy="6360489"/>
          </a:xfrm>
          <a:custGeom>
            <a:avLst/>
            <a:gdLst/>
            <a:ahLst/>
            <a:cxnLst/>
            <a:rect l="l" t="t" r="r" b="b"/>
            <a:pathLst>
              <a:path w="5204037" h="6360489">
                <a:moveTo>
                  <a:pt x="0" y="0"/>
                </a:moveTo>
                <a:lnTo>
                  <a:pt x="5204037" y="0"/>
                </a:lnTo>
                <a:lnTo>
                  <a:pt x="5204037" y="6360490"/>
                </a:lnTo>
                <a:lnTo>
                  <a:pt x="0" y="63604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401" y="2361175"/>
            <a:ext cx="16027003" cy="730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7"/>
              </a:lnSpc>
            </a:pPr>
            <a:r>
              <a:rPr lang="en-US" sz="446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Strategic Insights:</a:t>
            </a:r>
          </a:p>
          <a:p>
            <a:pPr algn="l">
              <a:lnSpc>
                <a:spcPts val="4427"/>
              </a:lnSpc>
            </a:pPr>
            <a:endParaRPr lang="en-US" sz="4462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114"/>
              </a:lnSpc>
            </a:pPr>
            <a:r>
              <a:rPr lang="en-US" sz="29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1. Financial Vitality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Growth: Achieved $357.92K in total sales with a healthy 42.61% profit margin.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Volume: Stable average invoice value of $187.79, driven by high-demand brands.</a:t>
            </a:r>
          </a:p>
          <a:p>
            <a:pPr algn="l">
              <a:lnSpc>
                <a:spcPts val="3834"/>
              </a:lnSpc>
            </a:pPr>
            <a:endParaRPr lang="en-US" sz="273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14"/>
              </a:lnSpc>
            </a:pPr>
            <a:r>
              <a:rPr lang="en-US" sz="29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2. Inventory &amp; Risk Control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Stock Health: Identified 2,000 low-stock items requiring immediate restock.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Loss Prevention: Proactive tracking of 472 products expiring in 2025 to minimize waste.</a:t>
            </a:r>
          </a:p>
          <a:p>
            <a:pPr algn="l">
              <a:lnSpc>
                <a:spcPts val="3834"/>
              </a:lnSpc>
            </a:pPr>
            <a:endParaRPr lang="en-US" sz="2738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114"/>
              </a:lnSpc>
            </a:pPr>
            <a:r>
              <a:rPr lang="en-US" sz="29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3. Predictive Intelligence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Accuracy: Implemented Random Forest (RF) as the lead predictive model with 80.40%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accuracy.</a:t>
            </a:r>
          </a:p>
          <a:p>
            <a:pPr algn="l">
              <a:lnSpc>
                <a:spcPts val="3834"/>
              </a:lnSpc>
            </a:pPr>
            <a:r>
              <a:rPr lang="en-US" sz="273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Future-Proofing: Transitioning from reactive ordering to data-backed demand forecasting.</a:t>
            </a:r>
          </a:p>
        </p:txBody>
      </p:sp>
      <p:sp>
        <p:nvSpPr>
          <p:cNvPr id="3" name="Freeform 3"/>
          <p:cNvSpPr/>
          <p:nvPr/>
        </p:nvSpPr>
        <p:spPr>
          <a:xfrm>
            <a:off x="15386935" y="884292"/>
            <a:ext cx="2162939" cy="1183717"/>
          </a:xfrm>
          <a:custGeom>
            <a:avLst/>
            <a:gdLst/>
            <a:ahLst/>
            <a:cxnLst/>
            <a:rect l="l" t="t" r="r" b="b"/>
            <a:pathLst>
              <a:path w="2162939" h="1183717">
                <a:moveTo>
                  <a:pt x="0" y="0"/>
                </a:moveTo>
                <a:lnTo>
                  <a:pt x="2162939" y="0"/>
                </a:lnTo>
                <a:lnTo>
                  <a:pt x="2162939" y="1183717"/>
                </a:lnTo>
                <a:lnTo>
                  <a:pt x="0" y="1183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4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923" b="2163"/>
          <a:stretch>
            <a:fillRect/>
          </a:stretch>
        </p:blipFill>
        <p:spPr>
          <a:xfrm>
            <a:off x="3792930" y="1426908"/>
            <a:ext cx="13622336" cy="829596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76086" y="205964"/>
            <a:ext cx="4383453" cy="98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: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226</Words>
  <Application>Microsoft Office PowerPoint</Application>
  <PresentationFormat>Custom</PresentationFormat>
  <Paragraphs>47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Tex Gyre Termes</vt:lpstr>
      <vt:lpstr>Poppins Bold</vt:lpstr>
      <vt:lpstr>Tex Gyre Termes Bold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Rahma</dc:creator>
  <cp:lastModifiedBy>rahma rabee</cp:lastModifiedBy>
  <cp:revision>1</cp:revision>
  <dcterms:created xsi:type="dcterms:W3CDTF">2006-08-16T00:00:00Z</dcterms:created>
  <dcterms:modified xsi:type="dcterms:W3CDTF">2026-10-07T12:57:36Z</dcterms:modified>
  <dc:identifier>DAHHBoTkJyM</dc:identifier>
</cp:coreProperties>
</file>